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4"/>
    <p:sldId id="258" r:id="rId5"/>
    <p:sldId id="260" r:id="rId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0" autoAdjust="0"/>
    <p:restoredTop sz="94660"/>
  </p:normalViewPr>
  <p:slideViewPr>
    <p:cSldViewPr snapToGrid="0" snapToObjects="1">
      <p:cViewPr>
        <p:scale>
          <a:sx n="60" d="100"/>
          <a:sy n="60" d="100"/>
        </p:scale>
        <p:origin x="1412"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rti Sharma" userId="dec462f0c4b7c14c" providerId="LiveId" clId="{CA72205B-6ECB-44BC-8A14-E573A12F3FFB}"/>
    <pc:docChg chg="undo custSel addSld modSld">
      <pc:chgData name="Kirti Sharma" userId="dec462f0c4b7c14c" providerId="LiveId" clId="{CA72205B-6ECB-44BC-8A14-E573A12F3FFB}" dt="2025-11-06T14:12:05.263" v="128"/>
      <pc:docMkLst>
        <pc:docMk/>
      </pc:docMkLst>
      <pc:sldChg chg="modSp mod">
        <pc:chgData name="Kirti Sharma" userId="dec462f0c4b7c14c" providerId="LiveId" clId="{CA72205B-6ECB-44BC-8A14-E573A12F3FFB}" dt="2025-11-06T10:03:22.959" v="3" actId="27636"/>
        <pc:sldMkLst>
          <pc:docMk/>
          <pc:sldMk cId="0" sldId="256"/>
        </pc:sldMkLst>
        <pc:spChg chg="mod">
          <ac:chgData name="Kirti Sharma" userId="dec462f0c4b7c14c" providerId="LiveId" clId="{CA72205B-6ECB-44BC-8A14-E573A12F3FFB}" dt="2025-11-06T10:03:22.959" v="3" actId="27636"/>
          <ac:spMkLst>
            <pc:docMk/>
            <pc:sldMk cId="0" sldId="256"/>
            <ac:spMk id="2" creationId="{00000000-0000-0000-0000-000000000000}"/>
          </ac:spMkLst>
        </pc:spChg>
      </pc:sldChg>
      <pc:sldChg chg="addSp delSp modSp new mod">
        <pc:chgData name="Kirti Sharma" userId="dec462f0c4b7c14c" providerId="LiveId" clId="{CA72205B-6ECB-44BC-8A14-E573A12F3FFB}" dt="2025-11-06T10:19:49.665" v="121" actId="2165"/>
        <pc:sldMkLst>
          <pc:docMk/>
          <pc:sldMk cId="1437752134" sldId="257"/>
        </pc:sldMkLst>
        <pc:spChg chg="mod">
          <ac:chgData name="Kirti Sharma" userId="dec462f0c4b7c14c" providerId="LiveId" clId="{CA72205B-6ECB-44BC-8A14-E573A12F3FFB}" dt="2025-11-06T10:03:43.996" v="20" actId="1076"/>
          <ac:spMkLst>
            <pc:docMk/>
            <pc:sldMk cId="1437752134" sldId="257"/>
            <ac:spMk id="2" creationId="{2D60FF37-1187-DB2C-1153-CF040AA76B68}"/>
          </ac:spMkLst>
        </pc:spChg>
        <pc:graphicFrameChg chg="add del mod modGraphic">
          <ac:chgData name="Kirti Sharma" userId="dec462f0c4b7c14c" providerId="LiveId" clId="{CA72205B-6ECB-44BC-8A14-E573A12F3FFB}" dt="2025-11-06T10:05:54.191" v="24" actId="478"/>
          <ac:graphicFrameMkLst>
            <pc:docMk/>
            <pc:sldMk cId="1437752134" sldId="257"/>
            <ac:graphicFrameMk id="3" creationId="{130DA85A-6BDA-8C0F-840E-050AEE2A31D1}"/>
          </ac:graphicFrameMkLst>
        </pc:graphicFrameChg>
        <pc:graphicFrameChg chg="add mod modGraphic">
          <ac:chgData name="Kirti Sharma" userId="dec462f0c4b7c14c" providerId="LiveId" clId="{CA72205B-6ECB-44BC-8A14-E573A12F3FFB}" dt="2025-11-06T10:19:49.665" v="121" actId="2165"/>
          <ac:graphicFrameMkLst>
            <pc:docMk/>
            <pc:sldMk cId="1437752134" sldId="257"/>
            <ac:graphicFrameMk id="4" creationId="{C4AFA02F-EF6C-1277-FBC2-452BE3469E30}"/>
          </ac:graphicFrameMkLst>
        </pc:graphicFrameChg>
      </pc:sldChg>
      <pc:sldChg chg="addSp modSp new">
        <pc:chgData name="Kirti Sharma" userId="dec462f0c4b7c14c" providerId="LiveId" clId="{CA72205B-6ECB-44BC-8A14-E573A12F3FFB}" dt="2025-11-06T10:54:42.106" v="123"/>
        <pc:sldMkLst>
          <pc:docMk/>
          <pc:sldMk cId="1748669651" sldId="258"/>
        </pc:sldMkLst>
        <pc:spChg chg="add mod">
          <ac:chgData name="Kirti Sharma" userId="dec462f0c4b7c14c" providerId="LiveId" clId="{CA72205B-6ECB-44BC-8A14-E573A12F3FFB}" dt="2025-11-06T10:54:42.106" v="123"/>
          <ac:spMkLst>
            <pc:docMk/>
            <pc:sldMk cId="1748669651" sldId="258"/>
            <ac:spMk id="4" creationId="{C85A9AB7-F6C2-5816-22ED-4844D9E74046}"/>
          </ac:spMkLst>
        </pc:spChg>
        <pc:graphicFrameChg chg="add mod">
          <ac:chgData name="Kirti Sharma" userId="dec462f0c4b7c14c" providerId="LiveId" clId="{CA72205B-6ECB-44BC-8A14-E573A12F3FFB}" dt="2025-11-06T10:54:42.106" v="123"/>
          <ac:graphicFrameMkLst>
            <pc:docMk/>
            <pc:sldMk cId="1748669651" sldId="258"/>
            <ac:graphicFrameMk id="3" creationId="{F6C5EE24-ED10-45BD-A1E6-53FB51658283}"/>
          </ac:graphicFrameMkLst>
        </pc:graphicFrameChg>
      </pc:sldChg>
      <pc:sldChg chg="addSp modSp new mod">
        <pc:chgData name="Kirti Sharma" userId="dec462f0c4b7c14c" providerId="LiveId" clId="{CA72205B-6ECB-44BC-8A14-E573A12F3FFB}" dt="2025-11-06T11:01:27.630" v="126"/>
        <pc:sldMkLst>
          <pc:docMk/>
          <pc:sldMk cId="2076035511" sldId="259"/>
        </pc:sldMkLst>
        <pc:graphicFrameChg chg="add mod modGraphic">
          <ac:chgData name="Kirti Sharma" userId="dec462f0c4b7c14c" providerId="LiveId" clId="{CA72205B-6ECB-44BC-8A14-E573A12F3FFB}" dt="2025-11-06T11:01:27.630" v="126"/>
          <ac:graphicFrameMkLst>
            <pc:docMk/>
            <pc:sldMk cId="2076035511" sldId="259"/>
            <ac:graphicFrameMk id="3" creationId="{22448C00-0ED3-FAD7-3419-BA69DFC5B444}"/>
          </ac:graphicFrameMkLst>
        </pc:graphicFrameChg>
      </pc:sldChg>
      <pc:sldChg chg="addSp modSp new">
        <pc:chgData name="Kirti Sharma" userId="dec462f0c4b7c14c" providerId="LiveId" clId="{CA72205B-6ECB-44BC-8A14-E573A12F3FFB}" dt="2025-11-06T14:12:05.263" v="128"/>
        <pc:sldMkLst>
          <pc:docMk/>
          <pc:sldMk cId="1373615798" sldId="260"/>
        </pc:sldMkLst>
        <pc:graphicFrameChg chg="add mod">
          <ac:chgData name="Kirti Sharma" userId="dec462f0c4b7c14c" providerId="LiveId" clId="{CA72205B-6ECB-44BC-8A14-E573A12F3FFB}" dt="2025-11-06T14:12:05.263" v="128"/>
          <ac:graphicFrameMkLst>
            <pc:docMk/>
            <pc:sldMk cId="1373615798" sldId="260"/>
            <ac:graphicFrameMk id="3" creationId="{DEA44852-7766-DCD1-BC92-1C088F61C9BF}"/>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AF3814F-8584-4D85-9E9E-EFD4C1930A2D}" type="doc">
      <dgm:prSet loTypeId="urn:microsoft.com/office/officeart/2005/8/layout/process1" loCatId="process" qsTypeId="urn:microsoft.com/office/officeart/2005/8/quickstyle/simple1" qsCatId="simple" csTypeId="urn:microsoft.com/office/officeart/2005/8/colors/accent1_2" csCatId="accent1" phldr="1"/>
      <dgm:spPr/>
    </dgm:pt>
    <dgm:pt modelId="{BEAC9BF8-C5E4-4C5E-88F2-3EB745364BBE}">
      <dgm:prSet phldrT="[Text]"/>
      <dgm:spPr/>
      <dgm:t>
        <a:bodyPr/>
        <a:lstStyle/>
        <a:p>
          <a:pPr>
            <a:buNone/>
          </a:pPr>
          <a:endParaRPr lang="en-IN" dirty="0"/>
        </a:p>
        <a:p>
          <a:pPr>
            <a:buNone/>
          </a:pPr>
          <a:r>
            <a:rPr lang="en-US" dirty="0"/>
            <a:t>MS Access queries and manual Excel refresh</a:t>
          </a:r>
          <a:endParaRPr lang="en-IN" dirty="0"/>
        </a:p>
      </dgm:t>
    </dgm:pt>
    <dgm:pt modelId="{6C107BB0-DB57-43BC-8CAC-9B1F62220AA9}" type="parTrans" cxnId="{49AFFF3C-E756-4DAD-BB38-08FC66DF333D}">
      <dgm:prSet/>
      <dgm:spPr/>
      <dgm:t>
        <a:bodyPr/>
        <a:lstStyle/>
        <a:p>
          <a:endParaRPr lang="en-IN"/>
        </a:p>
      </dgm:t>
    </dgm:pt>
    <dgm:pt modelId="{59062A79-CB7B-4D76-8112-CA88A0C6F577}" type="sibTrans" cxnId="{49AFFF3C-E756-4DAD-BB38-08FC66DF333D}">
      <dgm:prSet/>
      <dgm:spPr/>
      <dgm:t>
        <a:bodyPr/>
        <a:lstStyle/>
        <a:p>
          <a:endParaRPr lang="en-IN"/>
        </a:p>
      </dgm:t>
    </dgm:pt>
    <dgm:pt modelId="{E41A45BD-CC86-40CC-A1BA-423CF5ABF29E}">
      <dgm:prSet phldrT="[Text]" phldr="1"/>
      <dgm:spPr/>
      <dgm:t>
        <a:bodyPr/>
        <a:lstStyle/>
        <a:p>
          <a:endParaRPr lang="en-IN"/>
        </a:p>
      </dgm:t>
    </dgm:pt>
    <dgm:pt modelId="{2EFD888E-AC41-4EBE-A7D0-541696AB9D00}" type="parTrans" cxnId="{FE5B43E9-A910-4633-83D3-6E316E160E29}">
      <dgm:prSet/>
      <dgm:spPr/>
      <dgm:t>
        <a:bodyPr/>
        <a:lstStyle/>
        <a:p>
          <a:endParaRPr lang="en-IN"/>
        </a:p>
      </dgm:t>
    </dgm:pt>
    <dgm:pt modelId="{7ED90111-4CD6-4A29-BC66-50B74490979A}" type="sibTrans" cxnId="{FE5B43E9-A910-4633-83D3-6E316E160E29}">
      <dgm:prSet/>
      <dgm:spPr/>
      <dgm:t>
        <a:bodyPr/>
        <a:lstStyle/>
        <a:p>
          <a:endParaRPr lang="en-IN"/>
        </a:p>
      </dgm:t>
    </dgm:pt>
    <dgm:pt modelId="{2A302B3E-D676-4D4D-A74C-BB859D28D270}">
      <dgm:prSet phldrT="[Text]" phldr="1"/>
      <dgm:spPr/>
      <dgm:t>
        <a:bodyPr/>
        <a:lstStyle/>
        <a:p>
          <a:endParaRPr lang="en-IN"/>
        </a:p>
      </dgm:t>
    </dgm:pt>
    <dgm:pt modelId="{D5B534E9-B55C-4F52-801B-DFC9E1BA915D}" type="parTrans" cxnId="{CBE1EAD3-0EB8-48A7-8DB6-410504A7BFC2}">
      <dgm:prSet/>
      <dgm:spPr/>
      <dgm:t>
        <a:bodyPr/>
        <a:lstStyle/>
        <a:p>
          <a:endParaRPr lang="en-IN"/>
        </a:p>
      </dgm:t>
    </dgm:pt>
    <dgm:pt modelId="{50B2731C-1FB5-43E2-B5F8-D41689A0EB82}" type="sibTrans" cxnId="{CBE1EAD3-0EB8-48A7-8DB6-410504A7BFC2}">
      <dgm:prSet/>
      <dgm:spPr/>
      <dgm:t>
        <a:bodyPr/>
        <a:lstStyle/>
        <a:p>
          <a:endParaRPr lang="en-IN"/>
        </a:p>
      </dgm:t>
    </dgm:pt>
    <dgm:pt modelId="{B7B0676E-F37E-4B0E-9E21-090B93B58DF7}" type="pres">
      <dgm:prSet presAssocID="{2AF3814F-8584-4D85-9E9E-EFD4C1930A2D}" presName="Name0" presStyleCnt="0">
        <dgm:presLayoutVars>
          <dgm:dir/>
          <dgm:resizeHandles val="exact"/>
        </dgm:presLayoutVars>
      </dgm:prSet>
      <dgm:spPr/>
    </dgm:pt>
    <dgm:pt modelId="{14F5E608-254B-4EBA-8189-F0D94BF5EA97}" type="pres">
      <dgm:prSet presAssocID="{BEAC9BF8-C5E4-4C5E-88F2-3EB745364BBE}" presName="node" presStyleLbl="node1" presStyleIdx="0" presStyleCnt="3">
        <dgm:presLayoutVars>
          <dgm:bulletEnabled val="1"/>
        </dgm:presLayoutVars>
      </dgm:prSet>
      <dgm:spPr/>
    </dgm:pt>
    <dgm:pt modelId="{64DA2331-7533-4C30-A3A6-C54F9151F471}" type="pres">
      <dgm:prSet presAssocID="{59062A79-CB7B-4D76-8112-CA88A0C6F577}" presName="sibTrans" presStyleLbl="sibTrans2D1" presStyleIdx="0" presStyleCnt="2"/>
      <dgm:spPr/>
    </dgm:pt>
    <dgm:pt modelId="{BA23DE14-6692-4090-BF14-F0C74B196D54}" type="pres">
      <dgm:prSet presAssocID="{59062A79-CB7B-4D76-8112-CA88A0C6F577}" presName="connectorText" presStyleLbl="sibTrans2D1" presStyleIdx="0" presStyleCnt="2"/>
      <dgm:spPr/>
    </dgm:pt>
    <dgm:pt modelId="{F30B1C8F-D1B1-406D-93CA-72DA40DA06E4}" type="pres">
      <dgm:prSet presAssocID="{E41A45BD-CC86-40CC-A1BA-423CF5ABF29E}" presName="node" presStyleLbl="node1" presStyleIdx="1" presStyleCnt="3">
        <dgm:presLayoutVars>
          <dgm:bulletEnabled val="1"/>
        </dgm:presLayoutVars>
      </dgm:prSet>
      <dgm:spPr/>
    </dgm:pt>
    <dgm:pt modelId="{BFD51031-BB7F-4AC5-81C6-96781EA62B4F}" type="pres">
      <dgm:prSet presAssocID="{7ED90111-4CD6-4A29-BC66-50B74490979A}" presName="sibTrans" presStyleLbl="sibTrans2D1" presStyleIdx="1" presStyleCnt="2"/>
      <dgm:spPr/>
    </dgm:pt>
    <dgm:pt modelId="{C73A1B0E-76ED-4301-B458-9A4A60E764CD}" type="pres">
      <dgm:prSet presAssocID="{7ED90111-4CD6-4A29-BC66-50B74490979A}" presName="connectorText" presStyleLbl="sibTrans2D1" presStyleIdx="1" presStyleCnt="2"/>
      <dgm:spPr/>
    </dgm:pt>
    <dgm:pt modelId="{60421AC8-EE2E-4612-BBB9-79942DC429F0}" type="pres">
      <dgm:prSet presAssocID="{2A302B3E-D676-4D4D-A74C-BB859D28D270}" presName="node" presStyleLbl="node1" presStyleIdx="2" presStyleCnt="3">
        <dgm:presLayoutVars>
          <dgm:bulletEnabled val="1"/>
        </dgm:presLayoutVars>
      </dgm:prSet>
      <dgm:spPr/>
    </dgm:pt>
  </dgm:ptLst>
  <dgm:cxnLst>
    <dgm:cxn modelId="{540CFF27-8599-4412-A0F7-09DAADFF8B2B}" type="presOf" srcId="{59062A79-CB7B-4D76-8112-CA88A0C6F577}" destId="{BA23DE14-6692-4090-BF14-F0C74B196D54}" srcOrd="1" destOrd="0" presId="urn:microsoft.com/office/officeart/2005/8/layout/process1"/>
    <dgm:cxn modelId="{49AFFF3C-E756-4DAD-BB38-08FC66DF333D}" srcId="{2AF3814F-8584-4D85-9E9E-EFD4C1930A2D}" destId="{BEAC9BF8-C5E4-4C5E-88F2-3EB745364BBE}" srcOrd="0" destOrd="0" parTransId="{6C107BB0-DB57-43BC-8CAC-9B1F62220AA9}" sibTransId="{59062A79-CB7B-4D76-8112-CA88A0C6F577}"/>
    <dgm:cxn modelId="{98838845-A1B4-42F1-B296-2BD6AA80FF20}" type="presOf" srcId="{E41A45BD-CC86-40CC-A1BA-423CF5ABF29E}" destId="{F30B1C8F-D1B1-406D-93CA-72DA40DA06E4}" srcOrd="0" destOrd="0" presId="urn:microsoft.com/office/officeart/2005/8/layout/process1"/>
    <dgm:cxn modelId="{463ED54A-C916-4B0B-ABE5-6327DCF80121}" type="presOf" srcId="{7ED90111-4CD6-4A29-BC66-50B74490979A}" destId="{BFD51031-BB7F-4AC5-81C6-96781EA62B4F}" srcOrd="0" destOrd="0" presId="urn:microsoft.com/office/officeart/2005/8/layout/process1"/>
    <dgm:cxn modelId="{72FA8358-37BF-4ADF-A171-988A75FB7FA5}" type="presOf" srcId="{2A302B3E-D676-4D4D-A74C-BB859D28D270}" destId="{60421AC8-EE2E-4612-BBB9-79942DC429F0}" srcOrd="0" destOrd="0" presId="urn:microsoft.com/office/officeart/2005/8/layout/process1"/>
    <dgm:cxn modelId="{F5A979B7-41D3-4EA4-99ED-8067F2562198}" type="presOf" srcId="{2AF3814F-8584-4D85-9E9E-EFD4C1930A2D}" destId="{B7B0676E-F37E-4B0E-9E21-090B93B58DF7}" srcOrd="0" destOrd="0" presId="urn:microsoft.com/office/officeart/2005/8/layout/process1"/>
    <dgm:cxn modelId="{FB5086D2-1DA8-45FF-83E8-819F314881FE}" type="presOf" srcId="{59062A79-CB7B-4D76-8112-CA88A0C6F577}" destId="{64DA2331-7533-4C30-A3A6-C54F9151F471}" srcOrd="0" destOrd="0" presId="urn:microsoft.com/office/officeart/2005/8/layout/process1"/>
    <dgm:cxn modelId="{CBE1EAD3-0EB8-48A7-8DB6-410504A7BFC2}" srcId="{2AF3814F-8584-4D85-9E9E-EFD4C1930A2D}" destId="{2A302B3E-D676-4D4D-A74C-BB859D28D270}" srcOrd="2" destOrd="0" parTransId="{D5B534E9-B55C-4F52-801B-DFC9E1BA915D}" sibTransId="{50B2731C-1FB5-43E2-B5F8-D41689A0EB82}"/>
    <dgm:cxn modelId="{5E7DFFE4-6C16-47BA-BC1B-E13EEA787A1F}" type="presOf" srcId="{7ED90111-4CD6-4A29-BC66-50B74490979A}" destId="{C73A1B0E-76ED-4301-B458-9A4A60E764CD}" srcOrd="1" destOrd="0" presId="urn:microsoft.com/office/officeart/2005/8/layout/process1"/>
    <dgm:cxn modelId="{FE5B43E9-A910-4633-83D3-6E316E160E29}" srcId="{2AF3814F-8584-4D85-9E9E-EFD4C1930A2D}" destId="{E41A45BD-CC86-40CC-A1BA-423CF5ABF29E}" srcOrd="1" destOrd="0" parTransId="{2EFD888E-AC41-4EBE-A7D0-541696AB9D00}" sibTransId="{7ED90111-4CD6-4A29-BC66-50B74490979A}"/>
    <dgm:cxn modelId="{735091F7-52E0-4A0E-BB8D-88B0B48D24DD}" type="presOf" srcId="{BEAC9BF8-C5E4-4C5E-88F2-3EB745364BBE}" destId="{14F5E608-254B-4EBA-8189-F0D94BF5EA97}" srcOrd="0" destOrd="0" presId="urn:microsoft.com/office/officeart/2005/8/layout/process1"/>
    <dgm:cxn modelId="{617C5A87-3C24-42D1-A306-1022DD5E7883}" type="presParOf" srcId="{B7B0676E-F37E-4B0E-9E21-090B93B58DF7}" destId="{14F5E608-254B-4EBA-8189-F0D94BF5EA97}" srcOrd="0" destOrd="0" presId="urn:microsoft.com/office/officeart/2005/8/layout/process1"/>
    <dgm:cxn modelId="{664A2EE7-7666-4005-A4F7-77F458DC0FA6}" type="presParOf" srcId="{B7B0676E-F37E-4B0E-9E21-090B93B58DF7}" destId="{64DA2331-7533-4C30-A3A6-C54F9151F471}" srcOrd="1" destOrd="0" presId="urn:microsoft.com/office/officeart/2005/8/layout/process1"/>
    <dgm:cxn modelId="{881F984C-A22A-4E90-B936-AD834D6AA138}" type="presParOf" srcId="{64DA2331-7533-4C30-A3A6-C54F9151F471}" destId="{BA23DE14-6692-4090-BF14-F0C74B196D54}" srcOrd="0" destOrd="0" presId="urn:microsoft.com/office/officeart/2005/8/layout/process1"/>
    <dgm:cxn modelId="{06320709-50DD-46FA-8CAB-FFF4108E2565}" type="presParOf" srcId="{B7B0676E-F37E-4B0E-9E21-090B93B58DF7}" destId="{F30B1C8F-D1B1-406D-93CA-72DA40DA06E4}" srcOrd="2" destOrd="0" presId="urn:microsoft.com/office/officeart/2005/8/layout/process1"/>
    <dgm:cxn modelId="{26F4AD55-E03F-4DBF-8583-ED7079E42A3B}" type="presParOf" srcId="{B7B0676E-F37E-4B0E-9E21-090B93B58DF7}" destId="{BFD51031-BB7F-4AC5-81C6-96781EA62B4F}" srcOrd="3" destOrd="0" presId="urn:microsoft.com/office/officeart/2005/8/layout/process1"/>
    <dgm:cxn modelId="{F7B236E4-F6F7-49CB-A74C-B5168AD4149A}" type="presParOf" srcId="{BFD51031-BB7F-4AC5-81C6-96781EA62B4F}" destId="{C73A1B0E-76ED-4301-B458-9A4A60E764CD}" srcOrd="0" destOrd="0" presId="urn:microsoft.com/office/officeart/2005/8/layout/process1"/>
    <dgm:cxn modelId="{F8F56923-F5DE-466B-AC0C-10E2B3E32476}" type="presParOf" srcId="{B7B0676E-F37E-4B0E-9E21-090B93B58DF7}" destId="{60421AC8-EE2E-4612-BBB9-79942DC429F0}"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F5E608-254B-4EBA-8189-F0D94BF5EA97}">
      <dsp:nvSpPr>
        <dsp:cNvPr id="0" name=""/>
        <dsp:cNvSpPr/>
      </dsp:nvSpPr>
      <dsp:spPr>
        <a:xfrm>
          <a:off x="5357" y="1236309"/>
          <a:ext cx="1601390" cy="159138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endParaRPr lang="en-IN" sz="1800" kern="1200" dirty="0"/>
        </a:p>
        <a:p>
          <a:pPr marL="0" lvl="0" indent="0" algn="ctr" defTabSz="800100">
            <a:lnSpc>
              <a:spcPct val="90000"/>
            </a:lnSpc>
            <a:spcBef>
              <a:spcPct val="0"/>
            </a:spcBef>
            <a:spcAft>
              <a:spcPct val="35000"/>
            </a:spcAft>
            <a:buNone/>
          </a:pPr>
          <a:r>
            <a:rPr lang="en-US" sz="1800" kern="1200" dirty="0"/>
            <a:t>MS Access queries and manual Excel refresh</a:t>
          </a:r>
          <a:endParaRPr lang="en-IN" sz="1800" kern="1200" dirty="0"/>
        </a:p>
      </dsp:txBody>
      <dsp:txXfrm>
        <a:off x="51967" y="1282919"/>
        <a:ext cx="1508170" cy="1498161"/>
      </dsp:txXfrm>
    </dsp:sp>
    <dsp:sp modelId="{64DA2331-7533-4C30-A3A6-C54F9151F471}">
      <dsp:nvSpPr>
        <dsp:cNvPr id="0" name=""/>
        <dsp:cNvSpPr/>
      </dsp:nvSpPr>
      <dsp:spPr>
        <a:xfrm>
          <a:off x="1766887" y="1833427"/>
          <a:ext cx="339494" cy="39714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IN" sz="1400" kern="1200"/>
        </a:p>
      </dsp:txBody>
      <dsp:txXfrm>
        <a:off x="1766887" y="1912856"/>
        <a:ext cx="237646" cy="238286"/>
      </dsp:txXfrm>
    </dsp:sp>
    <dsp:sp modelId="{F30B1C8F-D1B1-406D-93CA-72DA40DA06E4}">
      <dsp:nvSpPr>
        <dsp:cNvPr id="0" name=""/>
        <dsp:cNvSpPr/>
      </dsp:nvSpPr>
      <dsp:spPr>
        <a:xfrm>
          <a:off x="2247304" y="1236309"/>
          <a:ext cx="1601390" cy="159138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2293914" y="1282919"/>
        <a:ext cx="1508170" cy="1498161"/>
      </dsp:txXfrm>
    </dsp:sp>
    <dsp:sp modelId="{BFD51031-BB7F-4AC5-81C6-96781EA62B4F}">
      <dsp:nvSpPr>
        <dsp:cNvPr id="0" name=""/>
        <dsp:cNvSpPr/>
      </dsp:nvSpPr>
      <dsp:spPr>
        <a:xfrm>
          <a:off x="4008834" y="1833427"/>
          <a:ext cx="339494" cy="39714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IN" sz="1400" kern="1200"/>
        </a:p>
      </dsp:txBody>
      <dsp:txXfrm>
        <a:off x="4008834" y="1912856"/>
        <a:ext cx="237646" cy="238286"/>
      </dsp:txXfrm>
    </dsp:sp>
    <dsp:sp modelId="{60421AC8-EE2E-4612-BBB9-79942DC429F0}">
      <dsp:nvSpPr>
        <dsp:cNvPr id="0" name=""/>
        <dsp:cNvSpPr/>
      </dsp:nvSpPr>
      <dsp:spPr>
        <a:xfrm>
          <a:off x="4489251" y="1236309"/>
          <a:ext cx="1601390" cy="159138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4535861" y="1282919"/>
        <a:ext cx="1508170" cy="1498161"/>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TL Access Automation – Before vs After</a:t>
            </a:r>
          </a:p>
        </p:txBody>
      </p:sp>
      <p:sp>
        <p:nvSpPr>
          <p:cNvPr id="3" name="TextBox 2"/>
          <p:cNvSpPr txBox="1"/>
          <p:nvPr/>
        </p:nvSpPr>
        <p:spPr>
          <a:xfrm>
            <a:off x="457200" y="1371600"/>
            <a:ext cx="3657600" cy="3657600"/>
          </a:xfrm>
          <a:prstGeom prst="rect">
            <a:avLst/>
          </a:prstGeom>
          <a:noFill/>
        </p:spPr>
        <p:txBody>
          <a:bodyPr wrap="square">
            <a:spAutoFit/>
          </a:bodyPr>
          <a:lstStyle/>
          <a:p>
            <a:endParaRPr/>
          </a:p>
          <a:p>
            <a:pPr>
              <a:defRPr sz="2000"/>
            </a:pPr>
            <a:r>
              <a:t>Earlier (Manual Process):</a:t>
            </a:r>
          </a:p>
          <a:p>
            <a:pPr>
              <a:defRPr sz="1600"/>
            </a:pPr>
            <a:r>
              <a:t>• GL extract</a:t>
            </a:r>
          </a:p>
          <a:p>
            <a:pPr>
              <a:defRPr sz="1600"/>
            </a:pPr>
            <a:r>
              <a:t>• Upload files into MS Access</a:t>
            </a:r>
          </a:p>
          <a:p>
            <a:pPr>
              <a:defRPr sz="1600"/>
            </a:pPr>
            <a:r>
              <a:t>• Run multiple queries to create base file</a:t>
            </a:r>
          </a:p>
          <a:p>
            <a:pPr>
              <a:defRPr sz="1600"/>
            </a:pPr>
            <a:r>
              <a:t>• Export to Excel &amp; refresh template</a:t>
            </a:r>
          </a:p>
          <a:p>
            <a:pPr>
              <a:defRPr sz="1600"/>
            </a:pPr>
            <a:r>
              <a:t>• Adjust rows/columns for new data</a:t>
            </a:r>
          </a:p>
          <a:p>
            <a:pPr>
              <a:defRPr sz="1600"/>
            </a:pPr>
            <a:r>
              <a:t>• Reformat output (remove extras)</a:t>
            </a:r>
          </a:p>
          <a:p>
            <a:pPr>
              <a:defRPr sz="1600"/>
            </a:pPr>
            <a:r>
              <a:t>• Run FX validation manually</a:t>
            </a:r>
          </a:p>
        </p:txBody>
      </p:sp>
      <p:sp>
        <p:nvSpPr>
          <p:cNvPr id="4" name="TextBox 3"/>
          <p:cNvSpPr txBox="1"/>
          <p:nvPr/>
        </p:nvSpPr>
        <p:spPr>
          <a:xfrm>
            <a:off x="4572000" y="1371600"/>
            <a:ext cx="3657600" cy="3657600"/>
          </a:xfrm>
          <a:prstGeom prst="rect">
            <a:avLst/>
          </a:prstGeom>
          <a:noFill/>
        </p:spPr>
        <p:txBody>
          <a:bodyPr wrap="square">
            <a:spAutoFit/>
          </a:bodyPr>
          <a:lstStyle/>
          <a:p>
            <a:endParaRPr/>
          </a:p>
          <a:p>
            <a:pPr>
              <a:defRPr sz="2000"/>
            </a:pPr>
            <a:r>
              <a:t>Now (Automated Process):</a:t>
            </a:r>
          </a:p>
          <a:p>
            <a:pPr>
              <a:defRPr sz="1600"/>
            </a:pPr>
            <a:r>
              <a:t>• GL extract</a:t>
            </a:r>
          </a:p>
          <a:p>
            <a:pPr>
              <a:defRPr sz="1600"/>
            </a:pPr>
            <a:r>
              <a:t>• Run Python script to segregate Finance data</a:t>
            </a:r>
          </a:p>
          <a:p>
            <a:pPr>
              <a:defRPr sz="1600"/>
            </a:pPr>
            <a:r>
              <a:t>• Run TL Access Automation Tool</a:t>
            </a:r>
          </a:p>
          <a:p>
            <a:pPr>
              <a:defRPr sz="1600"/>
            </a:pPr>
            <a:r>
              <a:t>• ✅ Automated output with formatting + FX validation</a:t>
            </a:r>
          </a:p>
        </p:txBody>
      </p:sp>
      <p:sp>
        <p:nvSpPr>
          <p:cNvPr id="5" name="TextBox 4"/>
          <p:cNvSpPr txBox="1"/>
          <p:nvPr/>
        </p:nvSpPr>
        <p:spPr>
          <a:xfrm>
            <a:off x="457200" y="5029200"/>
            <a:ext cx="8229600" cy="1661993"/>
          </a:xfrm>
          <a:prstGeom prst="rect">
            <a:avLst/>
          </a:prstGeom>
          <a:noFill/>
        </p:spPr>
        <p:txBody>
          <a:bodyPr wrap="square">
            <a:spAutoFit/>
          </a:bodyPr>
          <a:lstStyle/>
          <a:p>
            <a:endParaRPr dirty="0"/>
          </a:p>
          <a:p>
            <a:pPr>
              <a:defRPr sz="2000"/>
            </a:pPr>
            <a:r>
              <a:rPr dirty="0"/>
              <a:t>Summary of Benefits:</a:t>
            </a:r>
          </a:p>
          <a:p>
            <a:pPr>
              <a:defRPr sz="1600"/>
            </a:pPr>
            <a:r>
              <a:rPr dirty="0"/>
              <a:t>• 7 hours saved monthly (~</a:t>
            </a:r>
            <a:r>
              <a:rPr lang="en-IN"/>
              <a:t>84</a:t>
            </a:r>
            <a:r>
              <a:t> hours annually)</a:t>
            </a:r>
          </a:p>
          <a:p>
            <a:pPr>
              <a:defRPr sz="1600"/>
            </a:pPr>
            <a:r>
              <a:rPr dirty="0"/>
              <a:t>• MS Access dependency eliminated</a:t>
            </a:r>
          </a:p>
          <a:p>
            <a:pPr>
              <a:defRPr sz="1600"/>
            </a:pPr>
            <a:r>
              <a:rPr dirty="0"/>
              <a:t>• Anyone can run the tool – no specialized dependency</a:t>
            </a:r>
          </a:p>
          <a:p>
            <a:pPr>
              <a:defRPr sz="1600"/>
            </a:pPr>
            <a:r>
              <a:rPr dirty="0"/>
              <a:t>• Consistent, validated, formatted output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0FF37-1187-DB2C-1153-CF040AA76B68}"/>
              </a:ext>
            </a:extLst>
          </p:cNvPr>
          <p:cNvSpPr>
            <a:spLocks noGrp="1"/>
          </p:cNvSpPr>
          <p:nvPr>
            <p:ph type="title"/>
          </p:nvPr>
        </p:nvSpPr>
        <p:spPr>
          <a:xfrm>
            <a:off x="228600" y="124878"/>
            <a:ext cx="8686800" cy="299520"/>
          </a:xfrm>
        </p:spPr>
        <p:txBody>
          <a:bodyPr>
            <a:noAutofit/>
          </a:bodyPr>
          <a:lstStyle/>
          <a:p>
            <a:r>
              <a:rPr lang="en-IN" sz="3200" dirty="0"/>
              <a:t>Transaction Listing Consolidation Automation</a:t>
            </a:r>
          </a:p>
        </p:txBody>
      </p:sp>
      <p:graphicFrame>
        <p:nvGraphicFramePr>
          <p:cNvPr id="4" name="Table 3">
            <a:extLst>
              <a:ext uri="{FF2B5EF4-FFF2-40B4-BE49-F238E27FC236}">
                <a16:creationId xmlns:a16="http://schemas.microsoft.com/office/drawing/2014/main" id="{C4AFA02F-EF6C-1277-FBC2-452BE3469E30}"/>
              </a:ext>
            </a:extLst>
          </p:cNvPr>
          <p:cNvGraphicFramePr>
            <a:graphicFrameLocks noGrp="1"/>
          </p:cNvGraphicFramePr>
          <p:nvPr>
            <p:extLst>
              <p:ext uri="{D42A27DB-BD31-4B8C-83A1-F6EECF244321}">
                <p14:modId xmlns:p14="http://schemas.microsoft.com/office/powerpoint/2010/main" val="1587352408"/>
              </p:ext>
            </p:extLst>
          </p:nvPr>
        </p:nvGraphicFramePr>
        <p:xfrm>
          <a:off x="228600" y="812209"/>
          <a:ext cx="8686800" cy="5111397"/>
        </p:xfrm>
        <a:graphic>
          <a:graphicData uri="http://schemas.openxmlformats.org/drawingml/2006/table">
            <a:tbl>
              <a:tblPr firstRow="1" bandRow="1">
                <a:tableStyleId>{5940675A-B579-460E-94D1-54222C63F5DA}</a:tableStyleId>
              </a:tblPr>
              <a:tblGrid>
                <a:gridCol w="4343400">
                  <a:extLst>
                    <a:ext uri="{9D8B030D-6E8A-4147-A177-3AD203B41FA5}">
                      <a16:colId xmlns:a16="http://schemas.microsoft.com/office/drawing/2014/main" val="3504670953"/>
                    </a:ext>
                  </a:extLst>
                </a:gridCol>
                <a:gridCol w="4343400">
                  <a:extLst>
                    <a:ext uri="{9D8B030D-6E8A-4147-A177-3AD203B41FA5}">
                      <a16:colId xmlns:a16="http://schemas.microsoft.com/office/drawing/2014/main" val="2549619039"/>
                    </a:ext>
                  </a:extLst>
                </a:gridCol>
              </a:tblGrid>
              <a:tr h="306465">
                <a:tc gridSpan="2">
                  <a:txBody>
                    <a:bodyPr/>
                    <a:lstStyle/>
                    <a:p>
                      <a:r>
                        <a:rPr lang="en-IN" sz="1100" b="1" dirty="0"/>
                        <a:t>Problem Statement: </a:t>
                      </a:r>
                    </a:p>
                  </a:txBody>
                  <a:tcPr/>
                </a:tc>
                <a:tc hMerge="1">
                  <a:txBody>
                    <a:bodyPr/>
                    <a:lstStyle/>
                    <a:p>
                      <a:endParaRPr lang="en-IN"/>
                    </a:p>
                  </a:txBody>
                  <a:tcPr/>
                </a:tc>
                <a:extLst>
                  <a:ext uri="{0D108BD9-81ED-4DB2-BD59-A6C34878D82A}">
                    <a16:rowId xmlns:a16="http://schemas.microsoft.com/office/drawing/2014/main" val="4007821732"/>
                  </a:ext>
                </a:extLst>
              </a:tr>
              <a:tr h="827084">
                <a:tc gridSpan="2">
                  <a:txBody>
                    <a:bodyPr/>
                    <a:lstStyle/>
                    <a:p>
                      <a:pPr marL="180975" indent="-180975">
                        <a:buFont typeface="Arial" panose="020B0604020202020204" pitchFamily="34" charset="0"/>
                        <a:buChar char="•"/>
                      </a:pPr>
                      <a:r>
                        <a:rPr lang="en-US" sz="1100" dirty="0"/>
                        <a:t>Manual process using MS Access and Excel with multiple cumbersome steps.</a:t>
                      </a:r>
                    </a:p>
                    <a:p>
                      <a:pPr marL="180975" indent="-180975">
                        <a:buFont typeface="Arial" panose="020B0604020202020204" pitchFamily="34" charset="0"/>
                        <a:buChar char="•"/>
                      </a:pPr>
                      <a:r>
                        <a:rPr lang="en-US" sz="1100" dirty="0"/>
                        <a:t>Required manual insertion/deletion of rows and columns before refreshing pivots.</a:t>
                      </a:r>
                    </a:p>
                    <a:p>
                      <a:pPr marL="180975" indent="-180975">
                        <a:buFont typeface="Arial" panose="020B0604020202020204" pitchFamily="34" charset="0"/>
                        <a:buChar char="•"/>
                      </a:pPr>
                      <a:r>
                        <a:rPr lang="en-US" sz="1100" dirty="0"/>
                        <a:t>Static Access databases needed manual yearly updates and lacked multi-year support.</a:t>
                      </a:r>
                    </a:p>
                    <a:p>
                      <a:pPr marL="180975" indent="-180975">
                        <a:buFont typeface="Arial" panose="020B0604020202020204" pitchFamily="34" charset="0"/>
                        <a:buChar char="•"/>
                      </a:pPr>
                      <a:r>
                        <a:rPr lang="en-US" sz="1100" dirty="0"/>
                        <a:t>Time-consuming, error-prone, and inconsistent reconciliation with FX rates</a:t>
                      </a:r>
                    </a:p>
                    <a:p>
                      <a:endParaRPr lang="en-IN" sz="1100" dirty="0"/>
                    </a:p>
                  </a:txBody>
                  <a:tcPr/>
                </a:tc>
                <a:tc hMerge="1">
                  <a:txBody>
                    <a:bodyPr/>
                    <a:lstStyle/>
                    <a:p>
                      <a:endParaRPr lang="en-IN"/>
                    </a:p>
                  </a:txBody>
                  <a:tcPr/>
                </a:tc>
                <a:extLst>
                  <a:ext uri="{0D108BD9-81ED-4DB2-BD59-A6C34878D82A}">
                    <a16:rowId xmlns:a16="http://schemas.microsoft.com/office/drawing/2014/main" val="2564433451"/>
                  </a:ext>
                </a:extLst>
              </a:tr>
              <a:tr h="306465">
                <a:tc gridSpan="2">
                  <a:txBody>
                    <a:bodyPr/>
                    <a:lstStyle/>
                    <a:p>
                      <a:r>
                        <a:rPr lang="en-IN" sz="1100" b="1" dirty="0"/>
                        <a:t>Automation Solution:</a:t>
                      </a:r>
                    </a:p>
                  </a:txBody>
                  <a:tcPr/>
                </a:tc>
                <a:tc hMerge="1">
                  <a:txBody>
                    <a:bodyPr/>
                    <a:lstStyle/>
                    <a:p>
                      <a:endParaRPr lang="en-IN"/>
                    </a:p>
                  </a:txBody>
                  <a:tcPr/>
                </a:tc>
                <a:extLst>
                  <a:ext uri="{0D108BD9-81ED-4DB2-BD59-A6C34878D82A}">
                    <a16:rowId xmlns:a16="http://schemas.microsoft.com/office/drawing/2014/main" val="2928845787"/>
                  </a:ext>
                </a:extLst>
              </a:tr>
              <a:tr h="778844">
                <a:tc gridSpan="2">
                  <a:txBody>
                    <a:bodyPr/>
                    <a:lstStyle/>
                    <a:p>
                      <a:pPr marL="180975" indent="-180975">
                        <a:buFont typeface="Arial" panose="020B0604020202020204" pitchFamily="34" charset="0"/>
                        <a:buChar char="•"/>
                      </a:pPr>
                      <a:r>
                        <a:rPr lang="en-IN" sz="1100" dirty="0"/>
                        <a:t>Python tool consolidates monthly files for HGMS, HGHQ, and HGSU entities. Performs dynamic mapping, filtering, and lookups to generate month-on-month L3 pivot tables.</a:t>
                      </a:r>
                    </a:p>
                    <a:p>
                      <a:pPr marL="180975" indent="-180975">
                        <a:buFont typeface="Arial" panose="020B0604020202020204" pitchFamily="34" charset="0"/>
                        <a:buChar char="•"/>
                      </a:pPr>
                      <a:r>
                        <a:rPr lang="en-IN" sz="1100" dirty="0"/>
                        <a:t>Produces a single Excel file with all pivots and base data in under 5 minutes.</a:t>
                      </a:r>
                    </a:p>
                    <a:p>
                      <a:pPr marL="180975" indent="-180975">
                        <a:buFont typeface="Arial" panose="020B0604020202020204" pitchFamily="34" charset="0"/>
                        <a:buChar char="•"/>
                      </a:pPr>
                      <a:r>
                        <a:rPr lang="en-IN" sz="1100" dirty="0"/>
                        <a:t>Requires only updated mapping files, FX rates, and correct file placement</a:t>
                      </a:r>
                    </a:p>
                  </a:txBody>
                  <a:tcPr/>
                </a:tc>
                <a:tc hMerge="1">
                  <a:txBody>
                    <a:bodyPr/>
                    <a:lstStyle/>
                    <a:p>
                      <a:endParaRPr lang="en-IN"/>
                    </a:p>
                  </a:txBody>
                  <a:tcPr/>
                </a:tc>
                <a:extLst>
                  <a:ext uri="{0D108BD9-81ED-4DB2-BD59-A6C34878D82A}">
                    <a16:rowId xmlns:a16="http://schemas.microsoft.com/office/drawing/2014/main" val="3766741404"/>
                  </a:ext>
                </a:extLst>
              </a:tr>
              <a:tr h="306465">
                <a:tc>
                  <a:txBody>
                    <a:bodyPr/>
                    <a:lstStyle/>
                    <a:p>
                      <a:r>
                        <a:rPr lang="en-IN" sz="1100" dirty="0"/>
                        <a:t>Impact &amp; Benefits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100" dirty="0"/>
                        <a:t>Project Leadership &amp; Ownership</a:t>
                      </a:r>
                    </a:p>
                  </a:txBody>
                  <a:tcPr/>
                </a:tc>
                <a:extLst>
                  <a:ext uri="{0D108BD9-81ED-4DB2-BD59-A6C34878D82A}">
                    <a16:rowId xmlns:a16="http://schemas.microsoft.com/office/drawing/2014/main" val="1661084872"/>
                  </a:ext>
                </a:extLst>
              </a:tr>
              <a:tr h="565405">
                <a:tc>
                  <a:txBody>
                    <a:bodyPr/>
                    <a:lstStyle/>
                    <a:p>
                      <a:r>
                        <a:rPr lang="en-US" sz="1100" dirty="0"/>
                        <a:t>Saves ~7 hours monthly, 84 hours annually. Eliminates manual formatting and reconciliation steps.</a:t>
                      </a:r>
                    </a:p>
                    <a:p>
                      <a:r>
                        <a:rPr lang="en-US" sz="1100" dirty="0"/>
                        <a:t>Supports multi-year data without code changes.</a:t>
                      </a:r>
                    </a:p>
                    <a:p>
                      <a:r>
                        <a:rPr lang="en-US" sz="1100" dirty="0"/>
                        <a:t>Improves accuracy, consistency, and scalability.</a:t>
                      </a:r>
                    </a:p>
                    <a:p>
                      <a:endParaRPr lang="en-IN" sz="1100" dirty="0"/>
                    </a:p>
                  </a:txBody>
                  <a:tcPr/>
                </a:tc>
                <a:tc>
                  <a:txBody>
                    <a:bodyPr/>
                    <a:lstStyle/>
                    <a:p>
                      <a:pPr marL="171450" indent="-171450">
                        <a:buFont typeface="Arial" panose="020B0604020202020204" pitchFamily="34" charset="0"/>
                        <a:buChar char="•"/>
                      </a:pPr>
                      <a:r>
                        <a:rPr lang="en-US" sz="1100" dirty="0"/>
                        <a:t>Solely designed, coded, and tested the automation. </a:t>
                      </a:r>
                    </a:p>
                    <a:p>
                      <a:pPr marL="171450" indent="-171450">
                        <a:buFont typeface="Arial" panose="020B0604020202020204" pitchFamily="34" charset="0"/>
                        <a:buChar char="•"/>
                      </a:pPr>
                      <a:r>
                        <a:rPr lang="en-US" sz="1100" dirty="0"/>
                        <a:t>Collaborated with Priyanka Katyal (Process Owner) for query clarifications .</a:t>
                      </a:r>
                    </a:p>
                    <a:p>
                      <a:pPr marL="171450" indent="-171450">
                        <a:buFont typeface="Arial" panose="020B0604020202020204" pitchFamily="34" charset="0"/>
                        <a:buChar char="•"/>
                      </a:pPr>
                      <a:r>
                        <a:rPr lang="en-US" sz="1100" dirty="0"/>
                        <a:t>Took initiative to solve the end-to-end problem.</a:t>
                      </a:r>
                    </a:p>
                    <a:p>
                      <a:endParaRPr lang="en-IN" sz="1100" dirty="0"/>
                    </a:p>
                  </a:txBody>
                  <a:tcPr/>
                </a:tc>
                <a:extLst>
                  <a:ext uri="{0D108BD9-81ED-4DB2-BD59-A6C34878D82A}">
                    <a16:rowId xmlns:a16="http://schemas.microsoft.com/office/drawing/2014/main" val="1703628827"/>
                  </a:ext>
                </a:extLst>
              </a:tr>
              <a:tr h="344810">
                <a:tc>
                  <a:txBody>
                    <a:bodyPr/>
                    <a:lstStyle/>
                    <a:p>
                      <a:r>
                        <a:rPr lang="en-IN" sz="1100" dirty="0"/>
                        <a:t>Manual Process Flow</a:t>
                      </a:r>
                    </a:p>
                  </a:txBody>
                  <a:tcPr/>
                </a:tc>
                <a:tc>
                  <a:txBody>
                    <a:bodyPr/>
                    <a:lstStyle/>
                    <a:p>
                      <a:r>
                        <a:rPr lang="en-IN" sz="1100" dirty="0"/>
                        <a:t>Automated Process Flow </a:t>
                      </a:r>
                    </a:p>
                  </a:txBody>
                  <a:tcPr/>
                </a:tc>
                <a:extLst>
                  <a:ext uri="{0D108BD9-81ED-4DB2-BD59-A6C34878D82A}">
                    <a16:rowId xmlns:a16="http://schemas.microsoft.com/office/drawing/2014/main" val="3141330484"/>
                  </a:ext>
                </a:extLst>
              </a:tr>
              <a:tr h="1209068">
                <a:tc gridSpan="2">
                  <a:txBody>
                    <a:bodyPr/>
                    <a:lstStyle/>
                    <a:p>
                      <a:endParaRPr lang="en-IN" sz="1100" dirty="0"/>
                    </a:p>
                  </a:txBody>
                  <a:tcPr/>
                </a:tc>
                <a:tc hMerge="1">
                  <a:txBody>
                    <a:bodyPr/>
                    <a:lstStyle/>
                    <a:p>
                      <a:endParaRPr lang="en-IN" sz="1100" dirty="0"/>
                    </a:p>
                  </a:txBody>
                  <a:tcPr/>
                </a:tc>
                <a:extLst>
                  <a:ext uri="{0D108BD9-81ED-4DB2-BD59-A6C34878D82A}">
                    <a16:rowId xmlns:a16="http://schemas.microsoft.com/office/drawing/2014/main" val="102151831"/>
                  </a:ext>
                </a:extLst>
              </a:tr>
            </a:tbl>
          </a:graphicData>
        </a:graphic>
      </p:graphicFrame>
    </p:spTree>
    <p:extLst>
      <p:ext uri="{BB962C8B-B14F-4D97-AF65-F5344CB8AC3E}">
        <p14:creationId xmlns:p14="http://schemas.microsoft.com/office/powerpoint/2010/main" val="14377521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BBD8A-F97E-4351-5BAF-643CCED96655}"/>
              </a:ext>
            </a:extLst>
          </p:cNvPr>
          <p:cNvSpPr>
            <a:spLocks noGrp="1"/>
          </p:cNvSpPr>
          <p:nvPr>
            <p:ph type="title"/>
          </p:nvPr>
        </p:nvSpPr>
        <p:spPr/>
        <p:txBody>
          <a:bodyPr/>
          <a:lstStyle/>
          <a:p>
            <a:endParaRPr lang="en-IN"/>
          </a:p>
        </p:txBody>
      </p:sp>
      <p:graphicFrame>
        <p:nvGraphicFramePr>
          <p:cNvPr id="3" name="Diagram 2">
            <a:extLst>
              <a:ext uri="{FF2B5EF4-FFF2-40B4-BE49-F238E27FC236}">
                <a16:creationId xmlns:a16="http://schemas.microsoft.com/office/drawing/2014/main" id="{22448C00-0ED3-FAD7-3419-BA69DFC5B444}"/>
              </a:ext>
            </a:extLst>
          </p:cNvPr>
          <p:cNvGraphicFramePr/>
          <p:nvPr>
            <p:extLst>
              <p:ext uri="{D42A27DB-BD31-4B8C-83A1-F6EECF244321}">
                <p14:modId xmlns:p14="http://schemas.microsoft.com/office/powerpoint/2010/main" val="1998501115"/>
              </p:ext>
            </p:extLst>
          </p:nvPr>
        </p:nvGraphicFramePr>
        <p:xfrm>
          <a:off x="1524000" y="139700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760355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4E992-1684-93FD-2739-6AC84E773D40}"/>
              </a:ext>
            </a:extLst>
          </p:cNvPr>
          <p:cNvSpPr>
            <a:spLocks noGrp="1"/>
          </p:cNvSpPr>
          <p:nvPr>
            <p:ph type="title"/>
          </p:nvPr>
        </p:nvSpPr>
        <p:spPr/>
        <p:txBody>
          <a:bodyPr/>
          <a:lstStyle/>
          <a:p>
            <a:endParaRPr lang="en-IN"/>
          </a:p>
        </p:txBody>
      </p:sp>
      <p:graphicFrame>
        <p:nvGraphicFramePr>
          <p:cNvPr id="3" name="Table 2">
            <a:extLst>
              <a:ext uri="{FF2B5EF4-FFF2-40B4-BE49-F238E27FC236}">
                <a16:creationId xmlns:a16="http://schemas.microsoft.com/office/drawing/2014/main" id="{F6C5EE24-ED10-45BD-A1E6-53FB51658283}"/>
              </a:ext>
            </a:extLst>
          </p:cNvPr>
          <p:cNvGraphicFramePr>
            <a:graphicFrameLocks noGrp="1"/>
          </p:cNvGraphicFramePr>
          <p:nvPr/>
        </p:nvGraphicFramePr>
        <p:xfrm>
          <a:off x="457200" y="2262981"/>
          <a:ext cx="8229600" cy="3200400"/>
        </p:xfrm>
        <a:graphic>
          <a:graphicData uri="http://schemas.openxmlformats.org/drawingml/2006/table">
            <a:tbl>
              <a:tblPr/>
              <a:tblGrid>
                <a:gridCol w="2743200">
                  <a:extLst>
                    <a:ext uri="{9D8B030D-6E8A-4147-A177-3AD203B41FA5}">
                      <a16:colId xmlns:a16="http://schemas.microsoft.com/office/drawing/2014/main" val="2905175363"/>
                    </a:ext>
                  </a:extLst>
                </a:gridCol>
                <a:gridCol w="2743200">
                  <a:extLst>
                    <a:ext uri="{9D8B030D-6E8A-4147-A177-3AD203B41FA5}">
                      <a16:colId xmlns:a16="http://schemas.microsoft.com/office/drawing/2014/main" val="2580586568"/>
                    </a:ext>
                  </a:extLst>
                </a:gridCol>
                <a:gridCol w="2743200">
                  <a:extLst>
                    <a:ext uri="{9D8B030D-6E8A-4147-A177-3AD203B41FA5}">
                      <a16:colId xmlns:a16="http://schemas.microsoft.com/office/drawing/2014/main" val="3798073373"/>
                    </a:ext>
                  </a:extLst>
                </a:gridCol>
              </a:tblGrid>
              <a:tr h="0">
                <a:tc>
                  <a:txBody>
                    <a:bodyPr/>
                    <a:lstStyle/>
                    <a:p>
                      <a:pPr>
                        <a:buNone/>
                      </a:pPr>
                      <a:r>
                        <a:rPr lang="en-IN"/>
                        <a:t>Aspect</a:t>
                      </a:r>
                    </a:p>
                  </a:txBody>
                  <a:tcPr anchor="ctr">
                    <a:lnL>
                      <a:noFill/>
                    </a:lnL>
                    <a:lnR>
                      <a:noFill/>
                    </a:lnR>
                    <a:lnT>
                      <a:noFill/>
                    </a:lnT>
                    <a:lnB>
                      <a:noFill/>
                    </a:lnB>
                    <a:noFill/>
                  </a:tcPr>
                </a:tc>
                <a:tc>
                  <a:txBody>
                    <a:bodyPr/>
                    <a:lstStyle/>
                    <a:p>
                      <a:pPr>
                        <a:buNone/>
                      </a:pPr>
                      <a:r>
                        <a:rPr lang="en-IN"/>
                        <a:t>Before</a:t>
                      </a:r>
                    </a:p>
                  </a:txBody>
                  <a:tcPr anchor="ctr">
                    <a:lnL>
                      <a:noFill/>
                    </a:lnL>
                    <a:lnR>
                      <a:noFill/>
                    </a:lnR>
                    <a:lnT>
                      <a:noFill/>
                    </a:lnT>
                    <a:lnB>
                      <a:noFill/>
                    </a:lnB>
                    <a:noFill/>
                  </a:tcPr>
                </a:tc>
                <a:tc>
                  <a:txBody>
                    <a:bodyPr/>
                    <a:lstStyle/>
                    <a:p>
                      <a:pPr>
                        <a:buNone/>
                      </a:pPr>
                      <a:r>
                        <a:rPr lang="en-IN"/>
                        <a:t>After</a:t>
                      </a:r>
                    </a:p>
                  </a:txBody>
                  <a:tcPr anchor="ctr">
                    <a:lnL>
                      <a:noFill/>
                    </a:lnL>
                    <a:lnR>
                      <a:noFill/>
                    </a:lnR>
                    <a:lnT>
                      <a:noFill/>
                    </a:lnT>
                    <a:lnB>
                      <a:noFill/>
                    </a:lnB>
                    <a:noFill/>
                  </a:tcPr>
                </a:tc>
                <a:extLst>
                  <a:ext uri="{0D108BD9-81ED-4DB2-BD59-A6C34878D82A}">
                    <a16:rowId xmlns:a16="http://schemas.microsoft.com/office/drawing/2014/main" val="2474969739"/>
                  </a:ext>
                </a:extLst>
              </a:tr>
              <a:tr h="0">
                <a:tc>
                  <a:txBody>
                    <a:bodyPr/>
                    <a:lstStyle/>
                    <a:p>
                      <a:pPr>
                        <a:buNone/>
                      </a:pPr>
                      <a:r>
                        <a:rPr lang="en-IN"/>
                        <a:t>Data Source</a:t>
                      </a:r>
                    </a:p>
                  </a:txBody>
                  <a:tcPr anchor="ctr">
                    <a:lnL>
                      <a:noFill/>
                    </a:lnL>
                    <a:lnR>
                      <a:noFill/>
                    </a:lnR>
                    <a:lnT>
                      <a:noFill/>
                    </a:lnT>
                    <a:lnB>
                      <a:noFill/>
                    </a:lnB>
                    <a:noFill/>
                  </a:tcPr>
                </a:tc>
                <a:tc>
                  <a:txBody>
                    <a:bodyPr/>
                    <a:lstStyle/>
                    <a:p>
                      <a:pPr>
                        <a:buNone/>
                      </a:pPr>
                      <a:r>
                        <a:rPr lang="en-US"/>
                        <a:t>MS Access queries and manual Excel refresh</a:t>
                      </a:r>
                    </a:p>
                  </a:txBody>
                  <a:tcPr anchor="ctr">
                    <a:lnL>
                      <a:noFill/>
                    </a:lnL>
                    <a:lnR>
                      <a:noFill/>
                    </a:lnR>
                    <a:lnT>
                      <a:noFill/>
                    </a:lnT>
                    <a:lnB>
                      <a:noFill/>
                    </a:lnB>
                    <a:noFill/>
                  </a:tcPr>
                </a:tc>
                <a:tc>
                  <a:txBody>
                    <a:bodyPr/>
                    <a:lstStyle/>
                    <a:p>
                      <a:pPr>
                        <a:buNone/>
                      </a:pPr>
                      <a:r>
                        <a:rPr lang="en-IN"/>
                        <a:t>Python-generated files consolidated automatically</a:t>
                      </a:r>
                    </a:p>
                  </a:txBody>
                  <a:tcPr anchor="ctr">
                    <a:lnL>
                      <a:noFill/>
                    </a:lnL>
                    <a:lnR>
                      <a:noFill/>
                    </a:lnR>
                    <a:lnT>
                      <a:noFill/>
                    </a:lnT>
                    <a:lnB>
                      <a:noFill/>
                    </a:lnB>
                    <a:noFill/>
                  </a:tcPr>
                </a:tc>
                <a:extLst>
                  <a:ext uri="{0D108BD9-81ED-4DB2-BD59-A6C34878D82A}">
                    <a16:rowId xmlns:a16="http://schemas.microsoft.com/office/drawing/2014/main" val="844868252"/>
                  </a:ext>
                </a:extLst>
              </a:tr>
              <a:tr h="0">
                <a:tc>
                  <a:txBody>
                    <a:bodyPr/>
                    <a:lstStyle/>
                    <a:p>
                      <a:pPr>
                        <a:buNone/>
                      </a:pPr>
                      <a:r>
                        <a:rPr lang="en-IN"/>
                        <a:t>Manual Steps</a:t>
                      </a:r>
                    </a:p>
                  </a:txBody>
                  <a:tcPr anchor="ctr">
                    <a:lnL>
                      <a:noFill/>
                    </a:lnL>
                    <a:lnR>
                      <a:noFill/>
                    </a:lnR>
                    <a:lnT>
                      <a:noFill/>
                    </a:lnT>
                    <a:lnB>
                      <a:noFill/>
                    </a:lnB>
                    <a:noFill/>
                  </a:tcPr>
                </a:tc>
                <a:tc>
                  <a:txBody>
                    <a:bodyPr/>
                    <a:lstStyle/>
                    <a:p>
                      <a:pPr>
                        <a:buNone/>
                      </a:pPr>
                      <a:r>
                        <a:rPr lang="en-IN"/>
                        <a:t>Insert/delete rows/columns, format sheets, reconcile FX</a:t>
                      </a:r>
                    </a:p>
                  </a:txBody>
                  <a:tcPr anchor="ctr">
                    <a:lnL>
                      <a:noFill/>
                    </a:lnL>
                    <a:lnR>
                      <a:noFill/>
                    </a:lnR>
                    <a:lnT>
                      <a:noFill/>
                    </a:lnT>
                    <a:lnB>
                      <a:noFill/>
                    </a:lnB>
                    <a:noFill/>
                  </a:tcPr>
                </a:tc>
                <a:tc>
                  <a:txBody>
                    <a:bodyPr/>
                    <a:lstStyle/>
                    <a:p>
                      <a:pPr>
                        <a:buNone/>
                      </a:pPr>
                      <a:r>
                        <a:rPr lang="en-US"/>
                        <a:t>Fully automated consolidation and pivot creation</a:t>
                      </a:r>
                    </a:p>
                  </a:txBody>
                  <a:tcPr anchor="ctr">
                    <a:lnL>
                      <a:noFill/>
                    </a:lnL>
                    <a:lnR>
                      <a:noFill/>
                    </a:lnR>
                    <a:lnT>
                      <a:noFill/>
                    </a:lnT>
                    <a:lnB>
                      <a:noFill/>
                    </a:lnB>
                    <a:noFill/>
                  </a:tcPr>
                </a:tc>
                <a:extLst>
                  <a:ext uri="{0D108BD9-81ED-4DB2-BD59-A6C34878D82A}">
                    <a16:rowId xmlns:a16="http://schemas.microsoft.com/office/drawing/2014/main" val="3918843205"/>
                  </a:ext>
                </a:extLst>
              </a:tr>
              <a:tr h="0">
                <a:tc>
                  <a:txBody>
                    <a:bodyPr/>
                    <a:lstStyle/>
                    <a:p>
                      <a:pPr>
                        <a:buNone/>
                      </a:pPr>
                      <a:r>
                        <a:rPr lang="en-IN"/>
                        <a:t>Multi-Year Support</a:t>
                      </a:r>
                    </a:p>
                  </a:txBody>
                  <a:tcPr anchor="ctr">
                    <a:lnL>
                      <a:noFill/>
                    </a:lnL>
                    <a:lnR>
                      <a:noFill/>
                    </a:lnR>
                    <a:lnT>
                      <a:noFill/>
                    </a:lnT>
                    <a:lnB>
                      <a:noFill/>
                    </a:lnB>
                    <a:noFill/>
                  </a:tcPr>
                </a:tc>
                <a:tc>
                  <a:txBody>
                    <a:bodyPr/>
                    <a:lstStyle/>
                    <a:p>
                      <a:pPr>
                        <a:buNone/>
                      </a:pPr>
                      <a:r>
                        <a:rPr lang="en-US"/>
                        <a:t>Manual database edits, limited multi-year handling</a:t>
                      </a:r>
                    </a:p>
                  </a:txBody>
                  <a:tcPr anchor="ctr">
                    <a:lnL>
                      <a:noFill/>
                    </a:lnL>
                    <a:lnR>
                      <a:noFill/>
                    </a:lnR>
                    <a:lnT>
                      <a:noFill/>
                    </a:lnT>
                    <a:lnB>
                      <a:noFill/>
                    </a:lnB>
                    <a:noFill/>
                  </a:tcPr>
                </a:tc>
                <a:tc>
                  <a:txBody>
                    <a:bodyPr/>
                    <a:lstStyle/>
                    <a:p>
                      <a:pPr>
                        <a:buNone/>
                      </a:pPr>
                      <a:r>
                        <a:rPr lang="en-US"/>
                        <a:t>Seamless multi-year data handling without code changes</a:t>
                      </a:r>
                    </a:p>
                  </a:txBody>
                  <a:tcPr anchor="ctr">
                    <a:lnL>
                      <a:noFill/>
                    </a:lnL>
                    <a:lnR>
                      <a:noFill/>
                    </a:lnR>
                    <a:lnT>
                      <a:noFill/>
                    </a:lnT>
                    <a:lnB>
                      <a:noFill/>
                    </a:lnB>
                    <a:noFill/>
                  </a:tcPr>
                </a:tc>
                <a:extLst>
                  <a:ext uri="{0D108BD9-81ED-4DB2-BD59-A6C34878D82A}">
                    <a16:rowId xmlns:a16="http://schemas.microsoft.com/office/drawing/2014/main" val="3215457190"/>
                  </a:ext>
                </a:extLst>
              </a:tr>
              <a:tr h="0">
                <a:tc>
                  <a:txBody>
                    <a:bodyPr/>
                    <a:lstStyle/>
                    <a:p>
                      <a:pPr>
                        <a:buNone/>
                      </a:pPr>
                      <a:r>
                        <a:rPr lang="en-IN"/>
                        <a:t>Time Taken</a:t>
                      </a:r>
                    </a:p>
                  </a:txBody>
                  <a:tcPr anchor="ctr">
                    <a:lnL>
                      <a:noFill/>
                    </a:lnL>
                    <a:lnR>
                      <a:noFill/>
                    </a:lnR>
                    <a:lnT>
                      <a:noFill/>
                    </a:lnT>
                    <a:lnB>
                      <a:noFill/>
                    </a:lnB>
                    <a:noFill/>
                  </a:tcPr>
                </a:tc>
                <a:tc>
                  <a:txBody>
                    <a:bodyPr/>
                    <a:lstStyle/>
                    <a:p>
                      <a:pPr>
                        <a:buNone/>
                      </a:pPr>
                      <a:r>
                        <a:rPr lang="en-IN"/>
                        <a:t>Several hours monthly</a:t>
                      </a:r>
                    </a:p>
                  </a:txBody>
                  <a:tcPr anchor="ctr">
                    <a:lnL>
                      <a:noFill/>
                    </a:lnL>
                    <a:lnR>
                      <a:noFill/>
                    </a:lnR>
                    <a:lnT>
                      <a:noFill/>
                    </a:lnT>
                    <a:lnB>
                      <a:noFill/>
                    </a:lnB>
                    <a:noFill/>
                  </a:tcPr>
                </a:tc>
                <a:tc>
                  <a:txBody>
                    <a:bodyPr/>
                    <a:lstStyle/>
                    <a:p>
                      <a:pPr>
                        <a:buNone/>
                      </a:pPr>
                      <a:r>
                        <a:rPr lang="en-IN" dirty="0"/>
                        <a:t>Under 5 minutes per run</a:t>
                      </a:r>
                    </a:p>
                  </a:txBody>
                  <a:tcPr anchor="ctr">
                    <a:lnL>
                      <a:noFill/>
                    </a:lnL>
                    <a:lnR>
                      <a:noFill/>
                    </a:lnR>
                    <a:lnT>
                      <a:noFill/>
                    </a:lnT>
                    <a:lnB>
                      <a:noFill/>
                    </a:lnB>
                    <a:noFill/>
                  </a:tcPr>
                </a:tc>
                <a:extLst>
                  <a:ext uri="{0D108BD9-81ED-4DB2-BD59-A6C34878D82A}">
                    <a16:rowId xmlns:a16="http://schemas.microsoft.com/office/drawing/2014/main" val="3400385287"/>
                  </a:ext>
                </a:extLst>
              </a:tr>
            </a:tbl>
          </a:graphicData>
        </a:graphic>
      </p:graphicFrame>
      <p:sp>
        <p:nvSpPr>
          <p:cNvPr id="4" name="Rectangle 1">
            <a:extLst>
              <a:ext uri="{FF2B5EF4-FFF2-40B4-BE49-F238E27FC236}">
                <a16:creationId xmlns:a16="http://schemas.microsoft.com/office/drawing/2014/main" id="{C85A9AB7-F6C2-5816-22ED-4844D9E74046}"/>
              </a:ext>
            </a:extLst>
          </p:cNvPr>
          <p:cNvSpPr>
            <a:spLocks noChangeArrowheads="1"/>
          </p:cNvSpPr>
          <p:nvPr/>
        </p:nvSpPr>
        <p:spPr bwMode="auto">
          <a:xfrm>
            <a:off x="457200" y="226218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Transaction Listing Consolidation Automation Tool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chemeClr val="tx1"/>
                </a:solidFill>
                <a:effectLst/>
                <a:latin typeface="Arial" panose="020B0604020202020204" pitchFamily="34" charset="0"/>
              </a:rPr>
              <a:t>Overview</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dirty="0">
                <a:ln>
                  <a:noFill/>
                </a:ln>
                <a:solidFill>
                  <a:schemeClr val="tx1"/>
                </a:solidFill>
                <a:effectLst/>
                <a:latin typeface="Arial" panose="020B0604020202020204" pitchFamily="34" charset="0"/>
              </a:rPr>
              <a:t>This tool automates the consolidation of monthly finance transaction data across three entities: HGMS, HGHQ, and HGSU. It builds on a prior automation from 2024 that handled segregation and mapping of finance data (L1 to L4 mapping using OSPD, nominal to category mapping), which generated separate Excel files with dynamic pivots for each entity.</a:t>
            </a: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chemeClr val="tx1"/>
                </a:solidFill>
                <a:effectLst/>
                <a:latin typeface="Arial" panose="020B0604020202020204" pitchFamily="34" charset="0"/>
              </a:rPr>
              <a:t>Problem Statement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dirty="0">
                <a:ln>
                  <a:noFill/>
                </a:ln>
                <a:solidFill>
                  <a:schemeClr val="tx1"/>
                </a:solidFill>
                <a:effectLst/>
                <a:latin typeface="Arial" panose="020B0604020202020204" pitchFamily="34" charset="0"/>
              </a:rPr>
              <a:t>Previously, the process involved manual steps using MS Access and Excel:</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Running queries across four databases (three entities plus one consolidation database).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Refreshing pre-built Excel pivot sheets per L3 category, requiring manual insertion and deletion of rows/columns to accommodate data changes.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Manual formatting for uniformity and reconciliation with FX rates.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Static Access databases requiring manual updates for year changes and inability to handle multi-year data projections.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process was time-consuming, error-prone, and lacked scalability.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chemeClr val="tx1"/>
                </a:solidFill>
                <a:effectLst/>
                <a:latin typeface="Arial" panose="020B0604020202020204" pitchFamily="34" charset="0"/>
              </a:rPr>
              <a:t>Automation Solution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600" b="0" i="0" u="none" strike="noStrike" cap="none" normalizeH="0" baseline="0" dirty="0">
                <a:ln>
                  <a:noFill/>
                </a:ln>
                <a:solidFill>
                  <a:schemeClr val="tx1"/>
                </a:solidFill>
                <a:effectLst/>
                <a:latin typeface="Arial" panose="020B0604020202020204" pitchFamily="34" charset="0"/>
              </a:rPr>
              <a:t>Developed a Python-based tool to consolidate the Python-generated monthly files for all three entities.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Performs dynamic mapping, filtering, and lookups to create month-on-month pivot tables per L3 category.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Generates a single Excel file containing all pivots and base data for reference.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Requires only updated mapping files, FX rates, and correct placement of entity files in month folders.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Runs with a simple double-click and completes within 5 minutes.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chemeClr val="tx1"/>
                </a:solidFill>
                <a:effectLst/>
                <a:latin typeface="Arial" panose="020B0604020202020204" pitchFamily="34" charset="0"/>
              </a:rPr>
              <a:t>Impact &amp; Benefits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600" b="0" i="0" u="none" strike="noStrike" cap="none" normalizeH="0" baseline="0" dirty="0">
                <a:ln>
                  <a:noFill/>
                </a:ln>
                <a:solidFill>
                  <a:schemeClr val="tx1"/>
                </a:solidFill>
                <a:effectLst/>
                <a:latin typeface="Arial" panose="020B0604020202020204" pitchFamily="34" charset="0"/>
              </a:rPr>
              <a:t>Eliminates manual data handling, formatting, and reconciliation steps.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Supports multi-year data without code changes.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Saves approximately 7 hours monthly, totaling 84 hours annually.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Improves consistency, accuracy, and traceability.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Reduces dependency on static MS Access databases and manual interventions.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chemeClr val="tx1"/>
                </a:solidFill>
                <a:effectLst/>
                <a:latin typeface="Arial" panose="020B0604020202020204" pitchFamily="34" charset="0"/>
              </a:rPr>
              <a:t>Before vs After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chemeClr val="tx1"/>
                </a:solidFill>
                <a:effectLst/>
                <a:latin typeface="Arial" panose="020B0604020202020204" pitchFamily="34" charset="0"/>
              </a:rPr>
              <a:t>Your Role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600" b="0" i="0" u="none" strike="noStrike" cap="none" normalizeH="0" baseline="0" dirty="0">
                <a:ln>
                  <a:noFill/>
                </a:ln>
                <a:solidFill>
                  <a:schemeClr val="tx1"/>
                </a:solidFill>
                <a:effectLst/>
                <a:latin typeface="Arial" panose="020B0604020202020204" pitchFamily="34" charset="0"/>
              </a:rPr>
              <a:t>Solely designed, coded, and tested the entire automation.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Collaborated with PK, the current process owner, for query clarifications.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Took initiative to identify and solve the problem end-to-end.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486696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958F5-7CB4-519A-1355-73F59E4407DA}"/>
              </a:ext>
            </a:extLst>
          </p:cNvPr>
          <p:cNvSpPr>
            <a:spLocks noGrp="1"/>
          </p:cNvSpPr>
          <p:nvPr>
            <p:ph type="title"/>
          </p:nvPr>
        </p:nvSpPr>
        <p:spPr/>
        <p:txBody>
          <a:bodyPr/>
          <a:lstStyle/>
          <a:p>
            <a:endParaRPr lang="en-IN"/>
          </a:p>
        </p:txBody>
      </p:sp>
      <p:graphicFrame>
        <p:nvGraphicFramePr>
          <p:cNvPr id="3" name="Table 2">
            <a:extLst>
              <a:ext uri="{FF2B5EF4-FFF2-40B4-BE49-F238E27FC236}">
                <a16:creationId xmlns:a16="http://schemas.microsoft.com/office/drawing/2014/main" id="{DEA44852-7766-DCD1-BC92-1C088F61C9BF}"/>
              </a:ext>
            </a:extLst>
          </p:cNvPr>
          <p:cNvGraphicFramePr>
            <a:graphicFrameLocks noGrp="1"/>
          </p:cNvGraphicFramePr>
          <p:nvPr/>
        </p:nvGraphicFramePr>
        <p:xfrm>
          <a:off x="457200" y="2262981"/>
          <a:ext cx="8229600" cy="3200400"/>
        </p:xfrm>
        <a:graphic>
          <a:graphicData uri="http://schemas.openxmlformats.org/drawingml/2006/table">
            <a:tbl>
              <a:tblPr/>
              <a:tblGrid>
                <a:gridCol w="2743200">
                  <a:extLst>
                    <a:ext uri="{9D8B030D-6E8A-4147-A177-3AD203B41FA5}">
                      <a16:colId xmlns:a16="http://schemas.microsoft.com/office/drawing/2014/main" val="3981302872"/>
                    </a:ext>
                  </a:extLst>
                </a:gridCol>
                <a:gridCol w="2743200">
                  <a:extLst>
                    <a:ext uri="{9D8B030D-6E8A-4147-A177-3AD203B41FA5}">
                      <a16:colId xmlns:a16="http://schemas.microsoft.com/office/drawing/2014/main" val="2544830182"/>
                    </a:ext>
                  </a:extLst>
                </a:gridCol>
                <a:gridCol w="2743200">
                  <a:extLst>
                    <a:ext uri="{9D8B030D-6E8A-4147-A177-3AD203B41FA5}">
                      <a16:colId xmlns:a16="http://schemas.microsoft.com/office/drawing/2014/main" val="26389875"/>
                    </a:ext>
                  </a:extLst>
                </a:gridCol>
              </a:tblGrid>
              <a:tr h="0">
                <a:tc>
                  <a:txBody>
                    <a:bodyPr/>
                    <a:lstStyle/>
                    <a:p>
                      <a:pPr>
                        <a:buNone/>
                      </a:pPr>
                      <a:r>
                        <a:rPr lang="en-IN"/>
                        <a:t>Aspect</a:t>
                      </a:r>
                    </a:p>
                  </a:txBody>
                  <a:tcPr anchor="ctr">
                    <a:lnL>
                      <a:noFill/>
                    </a:lnL>
                    <a:lnR>
                      <a:noFill/>
                    </a:lnR>
                    <a:lnT>
                      <a:noFill/>
                    </a:lnT>
                    <a:lnB>
                      <a:noFill/>
                    </a:lnB>
                    <a:noFill/>
                  </a:tcPr>
                </a:tc>
                <a:tc>
                  <a:txBody>
                    <a:bodyPr/>
                    <a:lstStyle/>
                    <a:p>
                      <a:pPr>
                        <a:buNone/>
                      </a:pPr>
                      <a:r>
                        <a:rPr lang="en-IN"/>
                        <a:t>Before</a:t>
                      </a:r>
                    </a:p>
                  </a:txBody>
                  <a:tcPr anchor="ctr">
                    <a:lnL>
                      <a:noFill/>
                    </a:lnL>
                    <a:lnR>
                      <a:noFill/>
                    </a:lnR>
                    <a:lnT>
                      <a:noFill/>
                    </a:lnT>
                    <a:lnB>
                      <a:noFill/>
                    </a:lnB>
                    <a:noFill/>
                  </a:tcPr>
                </a:tc>
                <a:tc>
                  <a:txBody>
                    <a:bodyPr/>
                    <a:lstStyle/>
                    <a:p>
                      <a:pPr>
                        <a:buNone/>
                      </a:pPr>
                      <a:r>
                        <a:rPr lang="en-IN"/>
                        <a:t>After</a:t>
                      </a:r>
                    </a:p>
                  </a:txBody>
                  <a:tcPr anchor="ctr">
                    <a:lnL>
                      <a:noFill/>
                    </a:lnL>
                    <a:lnR>
                      <a:noFill/>
                    </a:lnR>
                    <a:lnT>
                      <a:noFill/>
                    </a:lnT>
                    <a:lnB>
                      <a:noFill/>
                    </a:lnB>
                    <a:noFill/>
                  </a:tcPr>
                </a:tc>
                <a:extLst>
                  <a:ext uri="{0D108BD9-81ED-4DB2-BD59-A6C34878D82A}">
                    <a16:rowId xmlns:a16="http://schemas.microsoft.com/office/drawing/2014/main" val="2633925950"/>
                  </a:ext>
                </a:extLst>
              </a:tr>
              <a:tr h="0">
                <a:tc>
                  <a:txBody>
                    <a:bodyPr/>
                    <a:lstStyle/>
                    <a:p>
                      <a:pPr>
                        <a:buNone/>
                      </a:pPr>
                      <a:r>
                        <a:rPr lang="en-IN"/>
                        <a:t>Data Source</a:t>
                      </a:r>
                    </a:p>
                  </a:txBody>
                  <a:tcPr anchor="ctr">
                    <a:lnL>
                      <a:noFill/>
                    </a:lnL>
                    <a:lnR>
                      <a:noFill/>
                    </a:lnR>
                    <a:lnT>
                      <a:noFill/>
                    </a:lnT>
                    <a:lnB>
                      <a:noFill/>
                    </a:lnB>
                    <a:noFill/>
                  </a:tcPr>
                </a:tc>
                <a:tc>
                  <a:txBody>
                    <a:bodyPr/>
                    <a:lstStyle/>
                    <a:p>
                      <a:pPr>
                        <a:buNone/>
                      </a:pPr>
                      <a:r>
                        <a:rPr lang="en-US"/>
                        <a:t>MS Access queries and manual Excel refresh</a:t>
                      </a:r>
                    </a:p>
                  </a:txBody>
                  <a:tcPr anchor="ctr">
                    <a:lnL>
                      <a:noFill/>
                    </a:lnL>
                    <a:lnR>
                      <a:noFill/>
                    </a:lnR>
                    <a:lnT>
                      <a:noFill/>
                    </a:lnT>
                    <a:lnB>
                      <a:noFill/>
                    </a:lnB>
                    <a:noFill/>
                  </a:tcPr>
                </a:tc>
                <a:tc>
                  <a:txBody>
                    <a:bodyPr/>
                    <a:lstStyle/>
                    <a:p>
                      <a:pPr>
                        <a:buNone/>
                      </a:pPr>
                      <a:r>
                        <a:rPr lang="en-IN"/>
                        <a:t>Python-generated files consolidated automatically</a:t>
                      </a:r>
                    </a:p>
                  </a:txBody>
                  <a:tcPr anchor="ctr">
                    <a:lnL>
                      <a:noFill/>
                    </a:lnL>
                    <a:lnR>
                      <a:noFill/>
                    </a:lnR>
                    <a:lnT>
                      <a:noFill/>
                    </a:lnT>
                    <a:lnB>
                      <a:noFill/>
                    </a:lnB>
                    <a:noFill/>
                  </a:tcPr>
                </a:tc>
                <a:extLst>
                  <a:ext uri="{0D108BD9-81ED-4DB2-BD59-A6C34878D82A}">
                    <a16:rowId xmlns:a16="http://schemas.microsoft.com/office/drawing/2014/main" val="4084858718"/>
                  </a:ext>
                </a:extLst>
              </a:tr>
              <a:tr h="0">
                <a:tc>
                  <a:txBody>
                    <a:bodyPr/>
                    <a:lstStyle/>
                    <a:p>
                      <a:pPr>
                        <a:buNone/>
                      </a:pPr>
                      <a:r>
                        <a:rPr lang="en-IN"/>
                        <a:t>Manual Steps</a:t>
                      </a:r>
                    </a:p>
                  </a:txBody>
                  <a:tcPr anchor="ctr">
                    <a:lnL>
                      <a:noFill/>
                    </a:lnL>
                    <a:lnR>
                      <a:noFill/>
                    </a:lnR>
                    <a:lnT>
                      <a:noFill/>
                    </a:lnT>
                    <a:lnB>
                      <a:noFill/>
                    </a:lnB>
                    <a:noFill/>
                  </a:tcPr>
                </a:tc>
                <a:tc>
                  <a:txBody>
                    <a:bodyPr/>
                    <a:lstStyle/>
                    <a:p>
                      <a:pPr>
                        <a:buNone/>
                      </a:pPr>
                      <a:r>
                        <a:rPr lang="en-IN"/>
                        <a:t>Insert/delete rows/columns, format sheets, reconcile FX</a:t>
                      </a:r>
                    </a:p>
                  </a:txBody>
                  <a:tcPr anchor="ctr">
                    <a:lnL>
                      <a:noFill/>
                    </a:lnL>
                    <a:lnR>
                      <a:noFill/>
                    </a:lnR>
                    <a:lnT>
                      <a:noFill/>
                    </a:lnT>
                    <a:lnB>
                      <a:noFill/>
                    </a:lnB>
                    <a:noFill/>
                  </a:tcPr>
                </a:tc>
                <a:tc>
                  <a:txBody>
                    <a:bodyPr/>
                    <a:lstStyle/>
                    <a:p>
                      <a:pPr>
                        <a:buNone/>
                      </a:pPr>
                      <a:r>
                        <a:rPr lang="en-US"/>
                        <a:t>Fully automated consolidation and pivot creation</a:t>
                      </a:r>
                    </a:p>
                  </a:txBody>
                  <a:tcPr anchor="ctr">
                    <a:lnL>
                      <a:noFill/>
                    </a:lnL>
                    <a:lnR>
                      <a:noFill/>
                    </a:lnR>
                    <a:lnT>
                      <a:noFill/>
                    </a:lnT>
                    <a:lnB>
                      <a:noFill/>
                    </a:lnB>
                    <a:noFill/>
                  </a:tcPr>
                </a:tc>
                <a:extLst>
                  <a:ext uri="{0D108BD9-81ED-4DB2-BD59-A6C34878D82A}">
                    <a16:rowId xmlns:a16="http://schemas.microsoft.com/office/drawing/2014/main" val="3252693693"/>
                  </a:ext>
                </a:extLst>
              </a:tr>
              <a:tr h="0">
                <a:tc>
                  <a:txBody>
                    <a:bodyPr/>
                    <a:lstStyle/>
                    <a:p>
                      <a:pPr>
                        <a:buNone/>
                      </a:pPr>
                      <a:r>
                        <a:rPr lang="en-IN"/>
                        <a:t>Multi-Year Support</a:t>
                      </a:r>
                    </a:p>
                  </a:txBody>
                  <a:tcPr anchor="ctr">
                    <a:lnL>
                      <a:noFill/>
                    </a:lnL>
                    <a:lnR>
                      <a:noFill/>
                    </a:lnR>
                    <a:lnT>
                      <a:noFill/>
                    </a:lnT>
                    <a:lnB>
                      <a:noFill/>
                    </a:lnB>
                    <a:noFill/>
                  </a:tcPr>
                </a:tc>
                <a:tc>
                  <a:txBody>
                    <a:bodyPr/>
                    <a:lstStyle/>
                    <a:p>
                      <a:pPr>
                        <a:buNone/>
                      </a:pPr>
                      <a:r>
                        <a:rPr lang="en-US"/>
                        <a:t>Manual database edits, limited multi-year handling</a:t>
                      </a:r>
                    </a:p>
                  </a:txBody>
                  <a:tcPr anchor="ctr">
                    <a:lnL>
                      <a:noFill/>
                    </a:lnL>
                    <a:lnR>
                      <a:noFill/>
                    </a:lnR>
                    <a:lnT>
                      <a:noFill/>
                    </a:lnT>
                    <a:lnB>
                      <a:noFill/>
                    </a:lnB>
                    <a:noFill/>
                  </a:tcPr>
                </a:tc>
                <a:tc>
                  <a:txBody>
                    <a:bodyPr/>
                    <a:lstStyle/>
                    <a:p>
                      <a:pPr>
                        <a:buNone/>
                      </a:pPr>
                      <a:r>
                        <a:rPr lang="en-US"/>
                        <a:t>Seamless multi-year data handling without code changes</a:t>
                      </a:r>
                    </a:p>
                  </a:txBody>
                  <a:tcPr anchor="ctr">
                    <a:lnL>
                      <a:noFill/>
                    </a:lnL>
                    <a:lnR>
                      <a:noFill/>
                    </a:lnR>
                    <a:lnT>
                      <a:noFill/>
                    </a:lnT>
                    <a:lnB>
                      <a:noFill/>
                    </a:lnB>
                    <a:noFill/>
                  </a:tcPr>
                </a:tc>
                <a:extLst>
                  <a:ext uri="{0D108BD9-81ED-4DB2-BD59-A6C34878D82A}">
                    <a16:rowId xmlns:a16="http://schemas.microsoft.com/office/drawing/2014/main" val="1011178400"/>
                  </a:ext>
                </a:extLst>
              </a:tr>
              <a:tr h="0">
                <a:tc>
                  <a:txBody>
                    <a:bodyPr/>
                    <a:lstStyle/>
                    <a:p>
                      <a:pPr>
                        <a:buNone/>
                      </a:pPr>
                      <a:r>
                        <a:rPr lang="en-IN"/>
                        <a:t>Time Taken</a:t>
                      </a:r>
                    </a:p>
                  </a:txBody>
                  <a:tcPr anchor="ctr">
                    <a:lnL>
                      <a:noFill/>
                    </a:lnL>
                    <a:lnR>
                      <a:noFill/>
                    </a:lnR>
                    <a:lnT>
                      <a:noFill/>
                    </a:lnT>
                    <a:lnB>
                      <a:noFill/>
                    </a:lnB>
                    <a:noFill/>
                  </a:tcPr>
                </a:tc>
                <a:tc>
                  <a:txBody>
                    <a:bodyPr/>
                    <a:lstStyle/>
                    <a:p>
                      <a:pPr>
                        <a:buNone/>
                      </a:pPr>
                      <a:r>
                        <a:rPr lang="en-IN"/>
                        <a:t>Several hours monthly</a:t>
                      </a:r>
                    </a:p>
                  </a:txBody>
                  <a:tcPr anchor="ctr">
                    <a:lnL>
                      <a:noFill/>
                    </a:lnL>
                    <a:lnR>
                      <a:noFill/>
                    </a:lnR>
                    <a:lnT>
                      <a:noFill/>
                    </a:lnT>
                    <a:lnB>
                      <a:noFill/>
                    </a:lnB>
                    <a:noFill/>
                  </a:tcPr>
                </a:tc>
                <a:tc>
                  <a:txBody>
                    <a:bodyPr/>
                    <a:lstStyle/>
                    <a:p>
                      <a:pPr>
                        <a:buNone/>
                      </a:pPr>
                      <a:r>
                        <a:rPr lang="en-IN" dirty="0"/>
                        <a:t>Under 5 minutes per run</a:t>
                      </a:r>
                    </a:p>
                  </a:txBody>
                  <a:tcPr anchor="ctr">
                    <a:lnL>
                      <a:noFill/>
                    </a:lnL>
                    <a:lnR>
                      <a:noFill/>
                    </a:lnR>
                    <a:lnT>
                      <a:noFill/>
                    </a:lnT>
                    <a:lnB>
                      <a:noFill/>
                    </a:lnB>
                    <a:noFill/>
                  </a:tcPr>
                </a:tc>
                <a:extLst>
                  <a:ext uri="{0D108BD9-81ED-4DB2-BD59-A6C34878D82A}">
                    <a16:rowId xmlns:a16="http://schemas.microsoft.com/office/drawing/2014/main" val="513114456"/>
                  </a:ext>
                </a:extLst>
              </a:tr>
            </a:tbl>
          </a:graphicData>
        </a:graphic>
      </p:graphicFrame>
    </p:spTree>
    <p:extLst>
      <p:ext uri="{BB962C8B-B14F-4D97-AF65-F5344CB8AC3E}">
        <p14:creationId xmlns:p14="http://schemas.microsoft.com/office/powerpoint/2010/main" val="13736157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596</TotalTime>
  <Words>769</Words>
  <Application>Microsoft Office PowerPoint</Application>
  <PresentationFormat>On-screen Show (4:3)</PresentationFormat>
  <Paragraphs>106</Paragraphs>
  <Slides>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TL Access Automation – Before vs After</vt:lpstr>
      <vt:lpstr>Transaction Listing Consolidation Automation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Kirti Sharma</dc:creator>
  <cp:keywords/>
  <dc:description>generated using python-pptx</dc:description>
  <cp:lastModifiedBy>Kirti Sharma</cp:lastModifiedBy>
  <cp:revision>2</cp:revision>
  <dcterms:created xsi:type="dcterms:W3CDTF">2013-01-27T09:14:16Z</dcterms:created>
  <dcterms:modified xsi:type="dcterms:W3CDTF">2025-11-06T14:12:08Z</dcterms:modified>
  <cp:category/>
</cp:coreProperties>
</file>